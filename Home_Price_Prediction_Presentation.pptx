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Georgia"/>
              </a:defRPr>
            </a:pPr>
            <a:r>
              <a:t>Home Price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  <a:latin typeface="Georgia"/>
              </a:defRPr>
            </a:pPr>
            <a:r>
              <a:t>Machine Learning for Real Estate Valuation</a:t>
            </a:r>
            <a:br/>
            <a:r>
              <a:t>Rutgers University • December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Georgia"/>
              </a:defRPr>
            </a:pPr>
            <a:r>
              <a:t>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Objective: Predict home prices with high accuracy (targeting 88.4% R²)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Data: Louisiana MLS real estate transactions (January - August 2025)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173,070 total properties • 150,311 training • 22,759 testing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1,022 engineered features including location, property details, and amenities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Chronological train/test split (months 1-7 / month 8)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Benchmark to beat: Steph's Random Forest at 88.4% R²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Georgia"/>
              </a:defRPr>
            </a:pPr>
            <a: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Data Pipeline: Load → Clean → Feature Engineer → Train → Evaluate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Feature Engineering: Sanitized names, building age, geographic encoding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Leakage Prevention: Removed ListPrice, CloseDate, agent/office info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Baseline Models: Linear Regression, Ridge, Lasso, Random Forest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Advanced Models: XGBoost (GPU), LightGBM, CatBoost, Neural Networks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Ensemble Methods: Voting, Stacking, Weighted Blending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Hyperparameter Tuning: 3-stage RandomizedSearchCV with GPU acceleration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Georgia"/>
              </a:defRPr>
            </a:pPr>
            <a:r>
              <a:t>XGBoost &amp; LightGBM GPU-Accelerated 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XGBoost: 3-stage tuning (broad → refined → final training)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LightGBM: RandomizedSearchCV with 20 iterations, 3-fold CV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GPU Acceleration: device='cuda' for XGBoost on Amarel cluster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LightGBM: CPU mode with parallel processing (n_jobs=-1)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Key Parameters: learning_rate, num_leaves, max_depth, colsample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Regularization: reg_alpha (L1), reg_lambda (L2) for both models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Early Stopping: 50 rounds patience to prevent overfitting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Georgia"/>
              </a:defRPr>
            </a:pPr>
            <a:r>
              <a:t>Model Performance Results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560320" cy="1645920"/>
          </a:xfrm>
          <a:prstGeom prst="roundRect">
            <a:avLst/>
          </a:prstGeom>
          <a:solidFill>
            <a:srgbClr val="F8FAFC"/>
          </a:solidFill>
          <a:ln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2560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667EEA"/>
                </a:solidFill>
                <a:latin typeface="Georgia"/>
              </a:defRPr>
            </a:pPr>
            <a:r>
              <a:t>85.61%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D3748"/>
                </a:solidFill>
                <a:latin typeface="Georgia"/>
              </a:defRPr>
            </a:pPr>
            <a:r>
              <a:t>Best R² Score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645920"/>
            <a:ext cx="2560320" cy="1645920"/>
          </a:xfrm>
          <a:prstGeom prst="roundRect">
            <a:avLst/>
          </a:prstGeom>
          <a:solidFill>
            <a:srgbClr val="F8FAFC"/>
          </a:solidFill>
          <a:ln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920240"/>
            <a:ext cx="2560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667EEA"/>
                </a:solidFill>
                <a:latin typeface="Georgia"/>
              </a:defRPr>
            </a:pPr>
            <a:r>
              <a:t>$321,335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65176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D3748"/>
                </a:solidFill>
                <a:latin typeface="Georgia"/>
              </a:defRPr>
            </a:pPr>
            <a:r>
              <a:t>RMSE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1645920"/>
            <a:ext cx="2560320" cy="1645920"/>
          </a:xfrm>
          <a:prstGeom prst="roundRect">
            <a:avLst/>
          </a:prstGeom>
          <a:solidFill>
            <a:srgbClr val="F8FAFC"/>
          </a:solidFill>
          <a:ln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1920240"/>
            <a:ext cx="2560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667EEA"/>
                </a:solidFill>
                <a:latin typeface="Georgia"/>
              </a:defRPr>
            </a:pPr>
            <a:r>
              <a:t>Blend XGB0.1 LGB0.9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5176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D3748"/>
                </a:solidFill>
                <a:latin typeface="Georgia"/>
              </a:defRPr>
            </a:pPr>
            <a:r>
              <a:t>Best Model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657600"/>
            <a:ext cx="2560320" cy="1371600"/>
          </a:xfrm>
          <a:prstGeom prst="roundRect">
            <a:avLst/>
          </a:prstGeom>
          <a:solidFill>
            <a:srgbClr val="F8FAFC"/>
          </a:solidFill>
          <a:ln>
            <a:solidFill>
              <a:srgbClr val="764B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840480"/>
            <a:ext cx="2560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764BA2"/>
                </a:solidFill>
                <a:latin typeface="Georgia"/>
              </a:defRPr>
            </a:pPr>
            <a:r>
              <a:t>150,311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43484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2D3748"/>
                </a:solidFill>
                <a:latin typeface="Georgia"/>
              </a:defRPr>
            </a:pPr>
            <a:r>
              <a:t>Training Samples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0" y="3657600"/>
            <a:ext cx="2560320" cy="1371600"/>
          </a:xfrm>
          <a:prstGeom prst="roundRect">
            <a:avLst/>
          </a:prstGeom>
          <a:solidFill>
            <a:srgbClr val="F8FAFC"/>
          </a:solidFill>
          <a:ln>
            <a:solidFill>
              <a:srgbClr val="764B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0" y="3840480"/>
            <a:ext cx="2560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764BA2"/>
                </a:solidFill>
                <a:latin typeface="Georgia"/>
              </a:defRPr>
            </a:pPr>
            <a:r>
              <a:t>22,759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443484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2D3748"/>
                </a:solidFill>
                <a:latin typeface="Georgia"/>
              </a:defRPr>
            </a:pPr>
            <a:r>
              <a:t>Test Samples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0" y="3657600"/>
            <a:ext cx="2560320" cy="1371600"/>
          </a:xfrm>
          <a:prstGeom prst="roundRect">
            <a:avLst/>
          </a:prstGeom>
          <a:solidFill>
            <a:srgbClr val="F8FAFC"/>
          </a:solidFill>
          <a:ln>
            <a:solidFill>
              <a:srgbClr val="764B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0" y="3840480"/>
            <a:ext cx="2560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764BA2"/>
                </a:solidFill>
                <a:latin typeface="Georgia"/>
              </a:defRPr>
            </a:pPr>
            <a:r>
              <a:t>1,022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443484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2D3748"/>
                </a:solidFill>
                <a:latin typeface="Georgia"/>
              </a:defRPr>
            </a:pPr>
            <a:r>
              <a:t>Features Used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Georgia"/>
              </a:defRPr>
            </a:pPr>
            <a:r>
              <a:t>Model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Weighted Blend (10% XGB + 90% LGB): 85.61% R² ← BEST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LightGBM (Tuned): 85.60% R²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XGBoost (GPU-Tuned): 85.06% R²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Stacking (XGB + LGB + Ridge meta): 83.95% R²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Voting (XGB + LGB average): 83.25% R²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Random Forest Baseline: 88.4% R² (Steph's benchmark)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Gap to Steph: -2.79 percentage points (room for improvement)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Georgia"/>
              </a:defRPr>
            </a:pPr>
            <a:r>
              <a:t>Top Predictive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Living Area (sq ft) - Most important predictor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Building Age - Derived from YearBuilt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Geographic Location - City, MLSAreaMajor, Postal Code (target encoded)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Bedrooms &amp; Bathrooms - Core property attributes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Garage Spaces - Storage and parking value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Property Type - Single Family, Condo, Multi-Family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Property Condition &amp; Quality - Assessor ratings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Georgia"/>
              </a:defRPr>
            </a:pPr>
            <a:r>
              <a:t>Technical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Python 3.9+ with scikit-learn, XGBoost 2.1, LightGBM 3.3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GPU: NVIDIA CUDA via device='cuda' on Amarel HPC cluster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Data Processing: pandas, numpy for 173K+ records × 1K features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Feature Names: Sanitized for LightGBM JSON compatibility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Web App: Streamlit with plotly for interactive predictions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Notebooks: Jupyter for reproducible analysis pipeline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SLURM: Job submission for HPC GPU computing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Georgia"/>
              </a:defRPr>
            </a:pPr>
            <a:r>
              <a:t>Challenges &amp;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Challenge: Large dataset (150K records × 1,022 features)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Solution: GPU acceleration + efficient memory management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Challenge: Feature name compatibility (LightGBM JSON limits)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Solution: Sanitize names (replace commas, spaces with underscores)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Challenge: LightGBM GPU build not available on cluster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Solution: Use CPU mode with n_jobs=-1 (still fast: 21s training)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Challenge: Gap to Steph's 88.4% baseline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Solution: Ensemble blending brought us from 84.68% to 85.61%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Georgia"/>
              </a:defRPr>
            </a:pPr>
            <a:r>
              <a:t>Future Improvements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Feature Engineering: More geographic/neighborhood features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Ensemble Optimization: Grid search over blend weights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Deep Learning: Neural networks for complex patterns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CatBoost: Not tested yet - native categorical handling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Time Series: Add temporal market trend features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External Data: Economic indicators, interest rates, school ratings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Target: Close the 2.79% gap to Steph's 88.4% baseline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Georgia"/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Achieved 85.61% R² on test set with Blend_XGB0.1_LGB0.9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Best result: Weighted Blend (10% XGBoost + 90% LightGBM)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RMSE of $321,335 - average prediction error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Gap to Steph's 88.4%: 2.79 percentage points remaining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Clean, reproducible pipeline validated on Amarel HPC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Web application ready for interactive predictions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  <a:latin typeface="Georgia"/>
              </a:defRPr>
            </a:pPr>
            <a:r>
              <a:t>• Strong foundation for continued improvement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Georgia"/>
              </a:defRPr>
            </a:pPr>
            <a:r>
              <a:t>Thank You!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  <a:latin typeface="Georgia"/>
              </a:defRPr>
            </a:pPr>
            <a:r>
              <a:t>Questions?</a:t>
            </a:r>
            <a:br/>
            <a:br/>
            <a:r>
              <a:t>Home Price Prediction Project • Rutgers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